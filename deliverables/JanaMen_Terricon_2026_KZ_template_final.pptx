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4027fcaae841c8" /><Relationship Type="http://schemas.openxmlformats.org/officeDocument/2006/relationships/extended-properties" Target="/docProps/app.xml" Id="Ree334f2fe15a40c6" /><Relationship Type="http://schemas.openxmlformats.org/officeDocument/2006/relationships/officeDocument" Target="/ppt/presentation.xml" Id="Rff676d71cf334c9c" /></Relationships>
</file>

<file path=ppt/presentation.xml><?xml version="1.0" encoding="utf-8"?>
<p:presentation xmlns:p="http://schemas.openxmlformats.org/presentationml/2006/main">
  <p:sldMasterIdLst>
    <p:sldMasterId xmlns:r="http://schemas.openxmlformats.org/officeDocument/2006/relationships" id="2147483648" r:id="Rc1d74561a2d544f8"/>
  </p:sldMasterIdLst>
  <p:notesMasterIdLst>
    <p:notesMasterId xmlns:r="http://schemas.openxmlformats.org/officeDocument/2006/relationships" r:id="R45f9a6f1bf734ce3"/>
  </p:notesMasterIdLst>
  <p:sldIdLst>
    <p:sldId xmlns:r="http://schemas.openxmlformats.org/officeDocument/2006/relationships" id="256" r:id="R0ba4b9dad33045ee"/>
    <p:sldId xmlns:r="http://schemas.openxmlformats.org/officeDocument/2006/relationships" id="257" r:id="R79f551ee687949d1"/>
    <p:sldId xmlns:r="http://schemas.openxmlformats.org/officeDocument/2006/relationships" id="258" r:id="R080de60a07814be6"/>
    <p:sldId xmlns:r="http://schemas.openxmlformats.org/officeDocument/2006/relationships" id="259" r:id="Rba402aebbb254897"/>
    <p:sldId xmlns:r="http://schemas.openxmlformats.org/officeDocument/2006/relationships" id="260" r:id="R66c3144eeea84a95"/>
    <p:sldId xmlns:r="http://schemas.openxmlformats.org/officeDocument/2006/relationships" id="261" r:id="R3cf070b11491416e"/>
    <p:sldId xmlns:r="http://schemas.openxmlformats.org/officeDocument/2006/relationships" id="262" r:id="R2d72dd4b080f43b9"/>
    <p:sldId xmlns:r="http://schemas.openxmlformats.org/officeDocument/2006/relationships" id="263" r:id="R43547dbcbc2a483a"/>
    <p:sldId xmlns:r="http://schemas.openxmlformats.org/officeDocument/2006/relationships" id="264" r:id="R19fe670986184bdd"/>
    <p:sldId xmlns:r="http://schemas.openxmlformats.org/officeDocument/2006/relationships" id="265" r:id="R29e975f9b939428d"/>
  </p:sldIdLst>
  <p:sldSz cx="9144000" cy="51435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44bfc572c24c4c63" /><Relationship Type="http://schemas.openxmlformats.org/officeDocument/2006/relationships/slideMaster" Target="/ppt/slideMasters/slideMaster1.xml" Id="Rc1d74561a2d544f8" /><Relationship Type="http://schemas.openxmlformats.org/officeDocument/2006/relationships/notesMaster" Target="/ppt/notesMasters/notesMaster1.xml" Id="R45f9a6f1bf734ce3" /><Relationship Type="http://schemas.openxmlformats.org/officeDocument/2006/relationships/presProps" Target="/ppt/presProps.xml" Id="Rc8b99c53ce8d4498" /><Relationship Type="http://schemas.openxmlformats.org/officeDocument/2006/relationships/viewProps" Target="/ppt/viewProps.xml" Id="Rf196ebab9cce4080" /><Relationship Type="http://schemas.openxmlformats.org/officeDocument/2006/relationships/tableStyles" Target="/ppt/tableStyles.xml" Id="R36ec0eddc04d43d1" /><Relationship Type="http://schemas.openxmlformats.org/officeDocument/2006/relationships/slide" Target="/ppt/slides/slide1.xml" Id="R0ba4b9dad33045ee" /><Relationship Type="http://schemas.openxmlformats.org/officeDocument/2006/relationships/slide" Target="/ppt/slides/slide2.xml" Id="R79f551ee687949d1" /><Relationship Type="http://schemas.openxmlformats.org/officeDocument/2006/relationships/slide" Target="/ppt/slides/slide3.xml" Id="R080de60a07814be6" /><Relationship Type="http://schemas.openxmlformats.org/officeDocument/2006/relationships/slide" Target="/ppt/slides/slide4.xml" Id="Rba402aebbb254897" /><Relationship Type="http://schemas.openxmlformats.org/officeDocument/2006/relationships/slide" Target="/ppt/slides/slide5.xml" Id="R66c3144eeea84a95" /><Relationship Type="http://schemas.openxmlformats.org/officeDocument/2006/relationships/slide" Target="/ppt/slides/slide6.xml" Id="R3cf070b11491416e" /><Relationship Type="http://schemas.openxmlformats.org/officeDocument/2006/relationships/slide" Target="/ppt/slides/slide7.xml" Id="R2d72dd4b080f43b9" /><Relationship Type="http://schemas.openxmlformats.org/officeDocument/2006/relationships/slide" Target="/ppt/slides/slide8.xml" Id="R43547dbcbc2a483a" /><Relationship Type="http://schemas.openxmlformats.org/officeDocument/2006/relationships/slide" Target="/ppt/slides/slide9.xml" Id="R19fe670986184bdd" /><Relationship Type="http://schemas.openxmlformats.org/officeDocument/2006/relationships/slide" Target="/ppt/slides/slide10.xml" Id="R29e975f9b93942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842a0d1d244b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41ebb54dd34337" /><Relationship Type="http://schemas.openxmlformats.org/officeDocument/2006/relationships/notesMaster" Target="/ppt/notesMasters/notesMaster1.xml" Id="R03cd10028d814b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84919daea44108" /><Relationship Type="http://schemas.openxmlformats.org/officeDocument/2006/relationships/notesMaster" Target="/ppt/notesMasters/notesMaster1.xml" Id="Recba7aab912241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834e8ba71e405a" /><Relationship Type="http://schemas.openxmlformats.org/officeDocument/2006/relationships/notesMaster" Target="/ppt/notesMasters/notesMaster1.xml" Id="Re2425eff233e4d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11695f8a91430f" /><Relationship Type="http://schemas.openxmlformats.org/officeDocument/2006/relationships/notesMaster" Target="/ppt/notesMasters/notesMaster1.xml" Id="Rf2db829af1c842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2d90ab9a3847aa" /><Relationship Type="http://schemas.openxmlformats.org/officeDocument/2006/relationships/notesMaster" Target="/ppt/notesMasters/notesMaster1.xml" Id="Rda28a8ce56734c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58a688b4d246c5" /><Relationship Type="http://schemas.openxmlformats.org/officeDocument/2006/relationships/notesMaster" Target="/ppt/notesMasters/notesMaster1.xml" Id="Rd25d79049bb54d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947a939d8e406d" /><Relationship Type="http://schemas.openxmlformats.org/officeDocument/2006/relationships/notesMaster" Target="/ppt/notesMasters/notesMaster1.xml" Id="Ra86c54dc8ecf44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03442e44c84afd" /><Relationship Type="http://schemas.openxmlformats.org/officeDocument/2006/relationships/notesMaster" Target="/ppt/notesMasters/notesMaster1.xml" Id="R480f3ba377364f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c4db6086bf4854" /><Relationship Type="http://schemas.openxmlformats.org/officeDocument/2006/relationships/notesMaster" Target="/ppt/notesMasters/notesMaster1.xml" Id="R7d5e59a743314b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079cf9655b4ea2" /><Relationship Type="http://schemas.openxmlformats.org/officeDocument/2006/relationships/notesMaster" Target="/ppt/notesMasters/notesMaster1.xml" Id="R468f329f10cf43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Сөзді бір ойдан бастаңыз: қызметкерге HR қызметтеріне кірудің бір түсінікті нүктесі қажет. JanaМен жұмыс деректерін, демалыс өтінімдерін, оқуды және компания ережелері бойынша жауаптарды біріктіреді. Біз ойдан құрастырылған деректермен жұмыс істейтін жергілікті MVP көрсетеміз. PostTech — жобаның және репозиторийдің атауы. Команда құрамы мен нөмірі берілмеген.</a:t>
            </a:r>
            <a:endParaRPr/>
          </a:p>
          <a:p xmlns:a="http://schemas.openxmlformats.org/drawingml/2006/main">
            <a:pPr marL="0" lvl="0" indent="0" algn="l">
              <a:lnSpc>
                <a:spcPct val="100000"/>
              </a:lnSpc>
              <a:spcBef>
                <a:spcPts val="0"/>
              </a:spcBef>
              <a:spcAft>
                <a:spcPts val="0"/>
              </a:spcAft>
              <a:buSzPts val="1100"/>
              <a:buNone/>
            </a:pPr>
            <a:r>
              <a:t>Дереккөз: Jana_Post_Terricon_Hackathon_2026 1.pdf, Challenge 02, PDF файлының 13–19-беттері.</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Жоба күйі: 18 қазан 2026. Жергілікті MVP, ойдан құрастырылған қызметкерлер. Өндірістік енгізу туралы мәлімдеме жоқ.</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Мәселе техникалық тапсырмадан алынған: кадрлық деректер, өтінімдер, оқу мен HR жауаптары әртүрлі арналарда орналасқан. Қызметкер осы кезеңдерді өзі байланыстыруға мәжбүр. Біз әрекетті мәртебемен, тарихпен және хабарламамен байланыстыратын бірыңғай кабинет жасадық. Уақыт үнемі әлі өлшенген жоқ. Оны пилот барысында тексереміз.</a:t>
            </a:r>
            <a:endParaRPr/>
          </a:p>
          <a:p xmlns:a="http://schemas.openxmlformats.org/drawingml/2006/main">
            <a:pPr marL="0" lvl="0" indent="0" algn="l">
              <a:lnSpc>
                <a:spcPct val="100000"/>
              </a:lnSpc>
              <a:spcBef>
                <a:spcPts val="0"/>
              </a:spcBef>
              <a:spcAft>
                <a:spcPts val="0"/>
              </a:spcAft>
              <a:buSzPts val="1100"/>
              <a:buNone/>
            </a:pPr>
            <a:r>
              <a:t>Дереккөздер: ТТ PDF, 13 және 15-беттер; README.md.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Жоба күйі: 18 қазан 2026. Жергілікті MVP, ойдан құрастырылған қызметкерлер. Өндірістік енгізу туралы мәлімдеме жоқ.</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Әр рөл жеке аккаунтпен кіреді. Қызметкер өз деректерімен жұмыс істейді. Басшы тікелей бағынышты қызметкерлердің өтінімдерін қарайды. HR өз компаниясының қызметкерлер каталогы мен өтінімдерін көреді. Шектеулер тек батырмаларды жасыру арқылы емес, API деңгейінде орындалады. HR кабинеті әзірше шолу жасауға арналған, толық кадрлық әкімшілендіру жоқ. Байланыс деректерін тек өз профилінде, өрістерді тексеру арқылы өзгертуге болады. Ресми кадрлық өрістер тек оқуға арналған.</a:t>
            </a:r>
            <a:endParaRPr/>
          </a:p>
          <a:p xmlns:a="http://schemas.openxmlformats.org/drawingml/2006/main">
            <a:pPr marL="0" lvl="0" indent="0" algn="l">
              <a:lnSpc>
                <a:spcPct val="100000"/>
              </a:lnSpc>
              <a:spcBef>
                <a:spcPts val="0"/>
              </a:spcBef>
              <a:spcAft>
                <a:spcPts val="0"/>
              </a:spcAft>
              <a:buSzPts val="1100"/>
              <a:buNone/>
            </a:pPr>
            <a:r>
              <a:t>Дереккөздер: ТТ PDF, 14–17-беттер; backend/src/workflow.ts; frontend/src/pages/EmployeesPage.tsx; frontend/src/pages/ProfilePage.tsx; backend/test/roles.test.ts.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Жоба күйі: 18 қазан 2026. Жергілікті MVP, ойдан құрастырылған қызметкерлер. Өндірістік енгізу туралы мәлімдеме жоқ.</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Көрсету сценарийі: қызметкер демалысқа өтінім береді, басшы мақұлдайды, қызметкер хабарлама алады. Күндер бір рет қана шегеріледі. Бетті жаңарту нәтижені өзгертпейді. Қабылдамау үшін түсініктеме қажет, демалыс күндері шегерілмейді. Кері қайтарылған немесе қабылданбаған өтінімді жаңа нөмірмен қайта беруге болады. Стендте JP-1038 қабылданбаған күйінде сақталды, ал JP-1039 түзетілген күндермен қайта беріліп, мақұлданды. Тарих пен деректер PostgreSQL-де сақталады.</a:t>
            </a:r>
          </a:p>
          <a:p xmlns:a="http://schemas.openxmlformats.org/drawingml/2006/main">
            <a:r>
              <a:t>Дереккөздер: backend/src/workflow.ts; frontend/src/components/RequestDetails.tsx; reports/hackathon-audit/results.json; tmp/mobile-manager-approved-JP-1040.png.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Jana Academy сол кабинетке қосылған. Тестті ашу үшін материалдарды өту қажет. Қызметкер нәтижені, жауаптарды талдауды және талпыныстар тарихын көреді. Сәтсіз талпыныстан кейін тестті қайта тапсыруға болады. Нәтиже кемінде 80 пайыз болса, сервер курсты аяқтап, бір хабарлама жасайды. Мобильді стендте 60 және 100 пайыздық талпыныстар, жауаптар мен прогрестің жаңартудан кейін сақталуы тексерілді. Экрандағы 100 пайыз — бір сынақ талпынысының нәтижесі, оқыту тиімділігінің көрсеткіші емес.</a:t>
            </a:r>
          </a:p>
          <a:p xmlns:a="http://schemas.openxmlformats.org/drawingml/2006/main">
            <a:r>
              <a:t>Дереккөздер: ТТ PDF, 15 және 17-беттер; backend/src/academy.ts; backend/test/academy.test.ts; tmp/mobile-academy-material.png; tmp/mobile-academy-completed.png.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Jana қағидасы: тек қолжетімді базаға сүйену, дереккөзін көрсету және сенімді ақпарат болмаған кезде жауап жоқ екенін айту. Қазіргі нұсқа тоғыз демо-мақала бойынша детерминирленген іздеуді қолданады. Сыртқы LLM қосылмаған. Біз HR көмекшісінің тексерілетін әрекетін көрсетеміз, генеративті модельдің не RAG жүйесінің сапасын мәлімдемейміз. Өзге қызметкердің жалақысы, құпиясөз немесе базада жоқ ережелер туралы сұраққа ойдан жауап берілмейді. Келесі кезеңге HR бекіткен база, құжаттарға қолжетімділікті бақылау және сұрақтар жиыны бойынша сапаны бағалау қажет.</a:t>
            </a:r>
          </a:p>
          <a:p xmlns:a="http://schemas.openxmlformats.org/drawingml/2006/main">
            <a:r>
              <a:t>Дереккөздер: ТТ PDF, 15,17,18-беттер; frontend/src/mocks/knowledge.ts; frontend/src/utils/assistant.test.mjs; tmp/mobile-ai-jana-chat.png; tmp/mobile-ai-jana-source.png.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Мобильді веб-нұсқа сол кабинет пен деректерді қолданады. Браузерде қызметкер, басшы, HR, Academy, чат, хабарламалар және профиль 320,360,390,430 пиксель енінде және аласа экранда тексерілді. Мәтін тасымалы, өріс пен батырма өлшемі, қате өрісіне фокус және модаль терезелер түзетілді. Бұл бейімделетін веб-интерфейсті тексеру. Нақты iOS және Android құрылғыларында толық сынақ өткізілген жоқ. </a:t>
            </a:r>
          </a:p>
          <a:p xmlns:a="http://schemas.openxmlformats.org/drawingml/2006/main">
            <a:r>
              <a:t>Дереккөздер: ТТ PDF, 16–18-беттер; frontend/src/styles/experience.css; frontend/src/pages/ProfilePage.tsx; tmp/mobile-menu-390.png; tmp/mobile-profile-contacts.png; tmp/mobile-notifications-checked.png.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Жоғарғы қатар — қазіргі контур: React Fastify серверіне сұрау жібереді, сервер қолжетімділік пен бизнес ережелерді тексереді, PostgreSQL күйді сақтайды. Бұл тек браузер қоймасы емес, нақты сервер мен дерекқор. Төменгі қатар — болашақ интеграциялар жобасы. 1С:ЗУП кадрлық деректердің көзі болады. Адаптерлер идентификаторларды сәйкестендіріп, сенімді жеткізуді ұйымдастырады. Documentolog келісілген өтінімнен кейін құжаттарды өңдейді. Адаптерлердің API және дерекқормен байланысы әлі іске асырылмаған. Өтінім, жеткізу және құжат мәртебелері бөлек сақталады. Өнім нұсқалары, API және callback растау тәсілі келісілуі тиіс. Қазір сыртқы жүйелер қосылмаған.</a:t>
            </a:r>
          </a:p>
          <a:p xmlns:a="http://schemas.openxmlformats.org/drawingml/2006/main">
            <a:r>
              <a:t>Дереккөздер: README.md; backend/README.md; docs/INTEGRATIONS.md; docs/architecture.svg; ТТ PDF, 16,17,19-беттер.</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Сақталған аудитте фронтендтің 75 және бэкендтің 28 тесті өткен. Барлығы 103 регрессиялық тест. Бұған қоса талаптарға қатысты 8 жеке тексеру өткен. Фронтенд пен бэкенд құрастырылымдары сәтті. Тесттер PostgreSQL-дің уақытша оқшауланған схемаларында орындалған. Сайт арқылы мақұлдау, қабылдамау, қайта беру және бетті жаңартудан кейін сақтау тексерілді. Бейімделу браузерде қаралды. Бұл сандар нақты тексерулерді растайды. Олар ТТ-ға толық сәйкестікті, өндірістік дайындықты, жүктеме сынағын немесе қауіпсіздік аудитін білдірмейді. Есептің generatedAt мәні: 2026-10-17T21:06:32.422Z, жергілікті уақытпен 18.10.2026.</a:t>
            </a:r>
          </a:p>
          <a:p xmlns:a="http://schemas.openxmlformats.org/drawingml/2006/main">
            <a:r>
              <a:t>Дереккөздер: reports/hackathon-audit/results.json; reports/HACKATHON_CHECKLIST.md; frontend/src/utils/*.test.mjs; backend/test/*.test.ts.</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Қорытынды: JanaМен қызметкерді, басшыны және HR-ды бір үдеріске біріктіреді. Келесі қадам — қорғалған орта мен сыртқы API талаптары келісілгеннен кейін шектеулі пилот өткізу. Пилотта келісу уақытын, нақтылаусыз қабылданған өтінімдер үлесін және HR-ға қойылатын типтік сұрақтар санын өлшейміз. Бұл — өлшеу жоспары, қол жеткізілген үнем пайызы емес. Пилотқа дейін TLS, production-cookie баптаулары, құпияларды тексеру, пайдалану рәсімдері және келісілген HR құжаттары қажет. RU/KZ локализациясы сайтта әлі іске асырылмаған.</a:t>
            </a:r>
          </a:p>
          <a:p xmlns:a="http://schemas.openxmlformats.org/drawingml/2006/main">
            <a:r>
              <a:t/>
            </a:r>
          </a:p>
          <a:p xmlns:a="http://schemas.openxmlformats.org/drawingml/2006/main">
            <a:r>
              <a:t>Тікелей көрсету реті: 1) қызметкер ретінде кіріп, профильді ашу; 2) қалдыққа сай және бос күндерге демалыс өтінімін беру; 3) басшы ретінде кіріп, шешім қабылдау; 4) қызметкердің хабарламасын, тарихын және бетті жаңартудан кейінгі күйін көрсету; 5) Academy материалдары мен нәтижесін көрсету; 6) AI Jana-ға база қамтитын және базада жауабы жоқ сұрақ қою. Көрсету алдында сынақ деректерімен репетиция қажет. Сөз сөйлеу бағдары — 4–5 минут, тікелей демонстрация регламентке сай бөлек беріледі. Қазылар бағасына немесе жүлде мөлшеріне кепілдік берілмейді.</a:t>
            </a:r>
          </a:p>
          <a:p xmlns:a="http://schemas.openxmlformats.org/drawingml/2006/main">
            <a:r>
              <a:t>Дереккөздер: README.md; docs/INTEGRATIONS.md; ТТ PDF, 17–19-беттер; tmp/ux-home.png.</a:t>
            </a:r>
          </a:p>
          <a:p xmlns:a="http://schemas.openxmlformats.org/drawingml/2006/main">
            <a:r>
              <a:t/>
            </a:r>
          </a:p>
          <a:p xmlns:a="http://schemas.openxmlformats.org/drawingml/2006/main">
            <a:r>
              <a:t>Жоба күйі: 18 қазан 2026. Жергілікті MVP, ойдан құрастырылған қызметкерлер. Өндірістік енгізу туралы мәлімдеме жоқ.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9ca5b77ac443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3c59abad6344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41c118e5f245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0e8e37c34744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9873ebcbb34a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a744fe1569402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536501757c1424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66c0cb5d2a94e6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a0eb027599d4c7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3153eb61efb442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0a91c4076b84f69"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5">
            <a:extLst xmlns:a="http://schemas.openxmlformats.org/drawingml/2006/main">
              <a:ext uri="{FF2B5EF4-FFF2-40B4-BE49-F238E27FC236}">
                <a16:creationId xmlns:a16="http://schemas.microsoft.com/office/drawing/2014/main" id="{ABA4FEE6-B7C1-49FC-9BF8-0071079C8058}"/>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5200"/>
              <a:buNone/>
              <a:defRPr sz="5200"/>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p:txBody>
      </p:sp>
      <p:sp>
        <p:nvSpPr>
          <p:cNvPr id="11" name="Google Shape;11;p5">
            <a:extLst xmlns:a="http://schemas.openxmlformats.org/drawingml/2006/main">
              <a:ext uri="{FF2B5EF4-FFF2-40B4-BE49-F238E27FC236}">
                <a16:creationId xmlns:a16="http://schemas.microsoft.com/office/drawing/2014/main" id="{44546E75-7F66-4578-91DD-3807CAE5375D}"/>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5">
            <a:extLst xmlns:a="http://schemas.openxmlformats.org/drawingml/2006/main">
              <a:ext uri="{FF2B5EF4-FFF2-40B4-BE49-F238E27FC236}">
                <a16:creationId xmlns:a16="http://schemas.microsoft.com/office/drawing/2014/main" id="{44F5ADAB-9C30-406B-895A-F30EAF0576A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4" name="Google Shape;14;p6">
            <a:extLst xmlns:a="http://schemas.openxmlformats.org/drawingml/2006/main">
              <a:ext uri="{FF2B5EF4-FFF2-40B4-BE49-F238E27FC236}">
                <a16:creationId xmlns:a16="http://schemas.microsoft.com/office/drawing/2014/main" id="{6968F84F-65B2-4889-8F44-441B95EA5E2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15" name="Google Shape;15;p6">
            <a:extLst xmlns:a="http://schemas.openxmlformats.org/drawingml/2006/main">
              <a:ext uri="{FF2B5EF4-FFF2-40B4-BE49-F238E27FC236}">
                <a16:creationId xmlns:a16="http://schemas.microsoft.com/office/drawing/2014/main" id="{E1F87B83-306A-496B-904B-52D0E1A5100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16" name="Google Shape;16;p6">
            <a:extLst xmlns:a="http://schemas.openxmlformats.org/drawingml/2006/main">
              <a:ext uri="{FF2B5EF4-FFF2-40B4-BE49-F238E27FC236}">
                <a16:creationId xmlns:a16="http://schemas.microsoft.com/office/drawing/2014/main" id="{FA883CD9-6C12-4F0B-A06B-3E20C4B0C3A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8" name="Google Shape;18;p7">
            <a:extLst xmlns:a="http://schemas.openxmlformats.org/drawingml/2006/main">
              <a:ext uri="{FF2B5EF4-FFF2-40B4-BE49-F238E27FC236}">
                <a16:creationId xmlns:a16="http://schemas.microsoft.com/office/drawing/2014/main" id="{9CA2E02E-F3E1-4927-B28D-B918B80CF596}"/>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3600"/>
            </a:lvl1pPr>
            <a:lvl2pPr algn="ctr">
              <a:lnSpc>
                <a:spcPct val="100000"/>
              </a:lnSpc>
              <a:spcBef>
                <a:spcPts val="0"/>
              </a:spcBef>
              <a:spcAft>
                <a:spcPts val="0"/>
              </a:spcAft>
              <a:buSzPts val="3600"/>
              <a:buNone/>
              <a:defRPr sz="3600"/>
            </a:lvl2pPr>
            <a:lvl3pPr algn="ctr">
              <a:lnSpc>
                <a:spcPct val="100000"/>
              </a:lnSpc>
              <a:spcBef>
                <a:spcPts val="0"/>
              </a:spcBef>
              <a:spcAft>
                <a:spcPts val="0"/>
              </a:spcAft>
              <a:buSzPts val="3600"/>
              <a:buNone/>
              <a:defRPr sz="3600"/>
            </a:lvl3pPr>
            <a:lvl4pPr algn="ctr">
              <a:lnSpc>
                <a:spcPct val="100000"/>
              </a:lnSpc>
              <a:spcBef>
                <a:spcPts val="0"/>
              </a:spcBef>
              <a:spcAft>
                <a:spcPts val="0"/>
              </a:spcAft>
              <a:buSzPts val="3600"/>
              <a:buNone/>
              <a:defRPr sz="3600"/>
            </a:lvl4pPr>
            <a:lvl5pPr algn="ctr">
              <a:lnSpc>
                <a:spcPct val="100000"/>
              </a:lnSpc>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p:txBody>
      </p:sp>
      <p:sp>
        <p:nvSpPr>
          <p:cNvPr id="19" name="Google Shape;19;p7">
            <a:extLst xmlns:a="http://schemas.openxmlformats.org/drawingml/2006/main">
              <a:ext uri="{FF2B5EF4-FFF2-40B4-BE49-F238E27FC236}">
                <a16:creationId xmlns:a16="http://schemas.microsoft.com/office/drawing/2014/main" id="{33728B35-016A-4F0E-B268-8CC0C8C29E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8">
            <a:extLst xmlns:a="http://schemas.openxmlformats.org/drawingml/2006/main">
              <a:ext uri="{FF2B5EF4-FFF2-40B4-BE49-F238E27FC236}">
                <a16:creationId xmlns:a16="http://schemas.microsoft.com/office/drawing/2014/main" id="{592FC3FE-2B4C-4326-A307-D0D3AA0CE4D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2" name="Google Shape;22;p8">
            <a:extLst xmlns:a="http://schemas.openxmlformats.org/drawingml/2006/main">
              <a:ext uri="{FF2B5EF4-FFF2-40B4-BE49-F238E27FC236}">
                <a16:creationId xmlns:a16="http://schemas.microsoft.com/office/drawing/2014/main" id="{2BAA75EE-70E2-4F6C-B772-54055A59A7BF}"/>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3" name="Google Shape;23;p8">
            <a:extLst xmlns:a="http://schemas.openxmlformats.org/drawingml/2006/main">
              <a:ext uri="{FF2B5EF4-FFF2-40B4-BE49-F238E27FC236}">
                <a16:creationId xmlns:a16="http://schemas.microsoft.com/office/drawing/2014/main" id="{620A5803-8DBE-475E-966C-B8D2E91629CE}"/>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4" name="Google Shape;24;p8">
            <a:extLst xmlns:a="http://schemas.openxmlformats.org/drawingml/2006/main">
              <a:ext uri="{FF2B5EF4-FFF2-40B4-BE49-F238E27FC236}">
                <a16:creationId xmlns:a16="http://schemas.microsoft.com/office/drawing/2014/main" id="{54F49953-40AC-47E8-850C-14A8EAB47B5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9">
            <a:extLst xmlns:a="http://schemas.openxmlformats.org/drawingml/2006/main">
              <a:ext uri="{FF2B5EF4-FFF2-40B4-BE49-F238E27FC236}">
                <a16:creationId xmlns:a16="http://schemas.microsoft.com/office/drawing/2014/main" id="{D2FCE838-4859-4E9F-A915-96B06B7D173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7" name="Google Shape;27;p9">
            <a:extLst xmlns:a="http://schemas.openxmlformats.org/drawingml/2006/main">
              <a:ext uri="{FF2B5EF4-FFF2-40B4-BE49-F238E27FC236}">
                <a16:creationId xmlns:a16="http://schemas.microsoft.com/office/drawing/2014/main" id="{638184BD-DDB6-41A6-B47B-239976D48A7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10">
            <a:extLst xmlns:a="http://schemas.openxmlformats.org/drawingml/2006/main">
              <a:ext uri="{FF2B5EF4-FFF2-40B4-BE49-F238E27FC236}">
                <a16:creationId xmlns:a16="http://schemas.microsoft.com/office/drawing/2014/main" id="{B8E65550-5439-429E-87CA-7A3FCDB483D0}"/>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30" name="Google Shape;30;p10">
            <a:extLst xmlns:a="http://schemas.openxmlformats.org/drawingml/2006/main">
              <a:ext uri="{FF2B5EF4-FFF2-40B4-BE49-F238E27FC236}">
                <a16:creationId xmlns:a16="http://schemas.microsoft.com/office/drawing/2014/main" id="{D93DCC5C-BD9D-43A0-82D7-BFDDCC964F52}"/>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1" name="Google Shape;31;p10">
            <a:extLst xmlns:a="http://schemas.openxmlformats.org/drawingml/2006/main">
              <a:ext uri="{FF2B5EF4-FFF2-40B4-BE49-F238E27FC236}">
                <a16:creationId xmlns:a16="http://schemas.microsoft.com/office/drawing/2014/main" id="{4D3A3A51-DE55-4F55-B0C8-1C8E73BE9DC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11">
            <a:extLst xmlns:a="http://schemas.openxmlformats.org/drawingml/2006/main">
              <a:ext uri="{FF2B5EF4-FFF2-40B4-BE49-F238E27FC236}">
                <a16:creationId xmlns:a16="http://schemas.microsoft.com/office/drawing/2014/main" id="{66E69CF0-785D-42FC-A297-3C714F91B3EF}"/>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p:txBody>
      </p:sp>
      <p:sp>
        <p:nvSpPr>
          <p:cNvPr id="34" name="Google Shape;34;p11">
            <a:extLst xmlns:a="http://schemas.openxmlformats.org/drawingml/2006/main">
              <a:ext uri="{FF2B5EF4-FFF2-40B4-BE49-F238E27FC236}">
                <a16:creationId xmlns:a16="http://schemas.microsoft.com/office/drawing/2014/main" id="{7B48DDC5-A7A4-49B2-9168-93B9BC21478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12">
            <a:extLst xmlns:a="http://schemas.openxmlformats.org/drawingml/2006/main">
              <a:ext uri="{FF2B5EF4-FFF2-40B4-BE49-F238E27FC236}">
                <a16:creationId xmlns:a16="http://schemas.microsoft.com/office/drawing/2014/main" id="{F99BAF71-4D7C-4E2C-A918-427EE924FC62}"/>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37" name="Google Shape;37;p12">
            <a:extLst xmlns:a="http://schemas.openxmlformats.org/drawingml/2006/main">
              <a:ext uri="{FF2B5EF4-FFF2-40B4-BE49-F238E27FC236}">
                <a16:creationId xmlns:a16="http://schemas.microsoft.com/office/drawing/2014/main" id="{94B3F9F1-67A0-4852-8EA2-C7AD02436B62}"/>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4200"/>
              <a:buNone/>
              <a:defRPr sz="4200"/>
            </a:lvl1pPr>
            <a:lvl2pPr algn="ctr">
              <a:lnSpc>
                <a:spcPct val="100000"/>
              </a:lnSpc>
              <a:spcBef>
                <a:spcPts val="0"/>
              </a:spcBef>
              <a:spcAft>
                <a:spcPts val="0"/>
              </a:spcAft>
              <a:buSzPts val="4200"/>
              <a:buNone/>
              <a:defRPr sz="4200"/>
            </a:lvl2pPr>
            <a:lvl3pPr algn="ctr">
              <a:lnSpc>
                <a:spcPct val="100000"/>
              </a:lnSpc>
              <a:spcBef>
                <a:spcPts val="0"/>
              </a:spcBef>
              <a:spcAft>
                <a:spcPts val="0"/>
              </a:spcAft>
              <a:buSzPts val="4200"/>
              <a:buNone/>
              <a:defRPr sz="4200"/>
            </a:lvl3pPr>
            <a:lvl4pPr algn="ctr">
              <a:lnSpc>
                <a:spcPct val="100000"/>
              </a:lnSpc>
              <a:spcBef>
                <a:spcPts val="0"/>
              </a:spcBef>
              <a:spcAft>
                <a:spcPts val="0"/>
              </a:spcAft>
              <a:buSzPts val="4200"/>
              <a:buNone/>
              <a:defRPr sz="4200"/>
            </a:lvl4pPr>
            <a:lvl5pPr algn="ctr">
              <a:lnSpc>
                <a:spcPct val="100000"/>
              </a:lnSpc>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p:txBody>
      </p:sp>
      <p:sp>
        <p:nvSpPr>
          <p:cNvPr id="38" name="Google Shape;38;p12">
            <a:extLst xmlns:a="http://schemas.openxmlformats.org/drawingml/2006/main">
              <a:ext uri="{FF2B5EF4-FFF2-40B4-BE49-F238E27FC236}">
                <a16:creationId xmlns:a16="http://schemas.microsoft.com/office/drawing/2014/main" id="{464B6F8B-E8E4-452B-9C90-F014F1764811}"/>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12">
            <a:extLst xmlns:a="http://schemas.openxmlformats.org/drawingml/2006/main">
              <a:ext uri="{FF2B5EF4-FFF2-40B4-BE49-F238E27FC236}">
                <a16:creationId xmlns:a16="http://schemas.microsoft.com/office/drawing/2014/main" id="{5582DDB5-1241-4A73-8D82-2C7E7ABED12F}"/>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40" name="Google Shape;40;p12">
            <a:extLst xmlns:a="http://schemas.openxmlformats.org/drawingml/2006/main">
              <a:ext uri="{FF2B5EF4-FFF2-40B4-BE49-F238E27FC236}">
                <a16:creationId xmlns:a16="http://schemas.microsoft.com/office/drawing/2014/main" id="{B953C0F2-2316-4B82-A8D5-B82F1AC2491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3">
            <a:extLst xmlns:a="http://schemas.openxmlformats.org/drawingml/2006/main">
              <a:ext uri="{FF2B5EF4-FFF2-40B4-BE49-F238E27FC236}">
                <a16:creationId xmlns:a16="http://schemas.microsoft.com/office/drawing/2014/main" id="{D3923232-7154-47E7-A3B0-24CE1166221E}"/>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stStyle>
          <a:p xmlns:a="http://schemas.openxmlformats.org/drawingml/2006/main"/>
        </p:txBody>
      </p:sp>
      <p:sp>
        <p:nvSpPr>
          <p:cNvPr id="43" name="Google Shape;43;p13">
            <a:extLst xmlns:a="http://schemas.openxmlformats.org/drawingml/2006/main">
              <a:ext uri="{FF2B5EF4-FFF2-40B4-BE49-F238E27FC236}">
                <a16:creationId xmlns:a16="http://schemas.microsoft.com/office/drawing/2014/main" id="{8433BCA2-A243-4E26-8EB7-5D57BCB1542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4">
            <a:extLst xmlns:a="http://schemas.openxmlformats.org/drawingml/2006/main">
              <a:ext uri="{FF2B5EF4-FFF2-40B4-BE49-F238E27FC236}">
                <a16:creationId xmlns:a16="http://schemas.microsoft.com/office/drawing/2014/main" id="{32D652B5-26A2-430D-944A-5D96E39AFAA3}"/>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12000"/>
              <a:buNone/>
              <a:defRPr sz="12000"/>
            </a:lvl1pPr>
            <a:lvl2pPr algn="ctr">
              <a:lnSpc>
                <a:spcPct val="100000"/>
              </a:lnSpc>
              <a:spcBef>
                <a:spcPts val="0"/>
              </a:spcBef>
              <a:spcAft>
                <a:spcPts val="0"/>
              </a:spcAft>
              <a:buSzPts val="12000"/>
              <a:buNone/>
              <a:defRPr sz="12000"/>
            </a:lvl2pPr>
            <a:lvl3pPr algn="ctr">
              <a:lnSpc>
                <a:spcPct val="100000"/>
              </a:lnSpc>
              <a:spcBef>
                <a:spcPts val="0"/>
              </a:spcBef>
              <a:spcAft>
                <a:spcPts val="0"/>
              </a:spcAft>
              <a:buSzPts val="12000"/>
              <a:buNone/>
              <a:defRPr sz="12000"/>
            </a:lvl3pPr>
            <a:lvl4pPr algn="ctr">
              <a:lnSpc>
                <a:spcPct val="100000"/>
              </a:lnSpc>
              <a:spcBef>
                <a:spcPts val="0"/>
              </a:spcBef>
              <a:spcAft>
                <a:spcPts val="0"/>
              </a:spcAft>
              <a:buSzPts val="12000"/>
              <a:buNone/>
              <a:defRPr sz="12000"/>
            </a:lvl4pPr>
            <a:lvl5pPr algn="ctr">
              <a:lnSpc>
                <a:spcPct val="100000"/>
              </a:lnSpc>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r>
              <a:t>xx%</a:t>
            </a:r>
          </a:p>
        </p:txBody>
      </p:sp>
      <p:sp>
        <p:nvSpPr>
          <p:cNvPr id="46" name="Google Shape;46;p14">
            <a:extLst xmlns:a="http://schemas.openxmlformats.org/drawingml/2006/main">
              <a:ext uri="{FF2B5EF4-FFF2-40B4-BE49-F238E27FC236}">
                <a16:creationId xmlns:a16="http://schemas.microsoft.com/office/drawing/2014/main" id="{3AE3AE10-6083-42BA-A76B-FB0DF1DDCE11}"/>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lnSpc>
                <a:spcPct val="115000"/>
              </a:lnSpc>
              <a:spcBef>
                <a:spcPts val="0"/>
              </a:spcBef>
              <a:spcAft>
                <a:spcPts val="0"/>
              </a:spcAft>
              <a:buSzPts val="1800"/>
              <a:buChar char="●"/>
              <a:defRPr/>
            </a:lvl1pPr>
            <a:lvl2pPr marL="914400" indent="-317500" algn="ctr">
              <a:lnSpc>
                <a:spcPct val="115000"/>
              </a:lnSpc>
              <a:spcBef>
                <a:spcPts val="0"/>
              </a:spcBef>
              <a:spcAft>
                <a:spcPts val="0"/>
              </a:spcAft>
              <a:buSzPts val="1400"/>
              <a:buChar char="○"/>
              <a:defRPr/>
            </a:lvl2pPr>
            <a:lvl3pPr marL="1371600" indent="-317500" algn="ctr">
              <a:lnSpc>
                <a:spcPct val="115000"/>
              </a:lnSpc>
              <a:spcBef>
                <a:spcPts val="0"/>
              </a:spcBef>
              <a:spcAft>
                <a:spcPts val="0"/>
              </a:spcAft>
              <a:buSzPts val="1400"/>
              <a:buChar char="■"/>
              <a:defRPr/>
            </a:lvl3pPr>
            <a:lvl4pPr marL="1828800" indent="-317500" algn="ctr">
              <a:lnSpc>
                <a:spcPct val="115000"/>
              </a:lnSpc>
              <a:spcBef>
                <a:spcPts val="0"/>
              </a:spcBef>
              <a:spcAft>
                <a:spcPts val="0"/>
              </a:spcAft>
              <a:buSzPts val="1400"/>
              <a:buChar char="●"/>
              <a:defRPr/>
            </a:lvl4pPr>
            <a:lvl5pPr marL="2286000" indent="-317500" algn="ctr">
              <a:lnSpc>
                <a:spcPct val="115000"/>
              </a:lnSpc>
              <a:spcBef>
                <a:spcPts val="0"/>
              </a:spcBef>
              <a:spcAft>
                <a:spcPts val="0"/>
              </a:spcAft>
              <a:buSzPts val="1400"/>
              <a:buChar char="○"/>
              <a:defRPr/>
            </a:lvl5pPr>
            <a:lvl6pPr marL="2743200" indent="-317500" algn="ctr">
              <a:lnSpc>
                <a:spcPct val="115000"/>
              </a:lnSpc>
              <a:spcBef>
                <a:spcPts val="0"/>
              </a:spcBef>
              <a:spcAft>
                <a:spcPts val="0"/>
              </a:spcAft>
              <a:buSzPts val="1400"/>
              <a:buChar char="■"/>
              <a:defRPr/>
            </a:lvl6pPr>
            <a:lvl7pPr marL="3200400" indent="-317500" algn="ctr">
              <a:lnSpc>
                <a:spcPct val="115000"/>
              </a:lnSpc>
              <a:spcBef>
                <a:spcPts val="0"/>
              </a:spcBef>
              <a:spcAft>
                <a:spcPts val="0"/>
              </a:spcAft>
              <a:buSzPts val="1400"/>
              <a:buChar char="●"/>
              <a:defRPr/>
            </a:lvl7pPr>
            <a:lvl8pPr marL="3657600" indent="-317500" algn="ctr">
              <a:lnSpc>
                <a:spcPct val="115000"/>
              </a:lnSpc>
              <a:spcBef>
                <a:spcPts val="0"/>
              </a:spcBef>
              <a:spcAft>
                <a:spcPts val="0"/>
              </a:spcAft>
              <a:buSzPts val="1400"/>
              <a:buChar char="○"/>
              <a:defRPr/>
            </a:lvl8pPr>
            <a:lvl9pPr marL="4114800" indent="-317500" algn="ctr">
              <a:lnSpc>
                <a:spcPct val="115000"/>
              </a:lnSpc>
              <a:spcBef>
                <a:spcPts val="0"/>
              </a:spcBef>
              <a:spcAft>
                <a:spcPts val="0"/>
              </a:spcAft>
              <a:buSzPts val="1400"/>
              <a:buChar char="■"/>
              <a:defRPr/>
            </a:lvl9pPr>
          </a:lstStyle>
          <a:p xmlns:a="http://schemas.openxmlformats.org/drawingml/2006/main"/>
        </p:txBody>
      </p:sp>
      <p:sp>
        <p:nvSpPr>
          <p:cNvPr id="47" name="Google Shape;47;p14">
            <a:extLst xmlns:a="http://schemas.openxmlformats.org/drawingml/2006/main">
              <a:ext uri="{FF2B5EF4-FFF2-40B4-BE49-F238E27FC236}">
                <a16:creationId xmlns:a16="http://schemas.microsoft.com/office/drawing/2014/main" id="{AF285B42-055C-4F8C-975C-D0F096D217C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5">
            <a:extLst xmlns:a="http://schemas.openxmlformats.org/drawingml/2006/main">
              <a:ext uri="{FF2B5EF4-FFF2-40B4-BE49-F238E27FC236}">
                <a16:creationId xmlns:a16="http://schemas.microsoft.com/office/drawing/2014/main" id="{D82644E9-FCD4-4A95-AEB6-A355176D441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641b01a5a24fdc" /><Relationship Type="http://schemas.openxmlformats.org/officeDocument/2006/relationships/slideLayout" Target="/ppt/slideLayouts/slideLayout1.xml" Id="Rbe7e859594db42bc" /><Relationship Type="http://schemas.openxmlformats.org/officeDocument/2006/relationships/slideLayout" Target="/ppt/slideLayouts/slideLayout2.xml" Id="Rca614e4b6025419e" /><Relationship Type="http://schemas.openxmlformats.org/officeDocument/2006/relationships/slideLayout" Target="/ppt/slideLayouts/slideLayout3.xml" Id="R8458b8a5aa4f4040" /><Relationship Type="http://schemas.openxmlformats.org/officeDocument/2006/relationships/slideLayout" Target="/ppt/slideLayouts/slideLayout4.xml" Id="Rab7df771bca14dbd" /><Relationship Type="http://schemas.openxmlformats.org/officeDocument/2006/relationships/slideLayout" Target="/ppt/slideLayouts/slideLayout5.xml" Id="Ra06b065fa8144ad8" /><Relationship Type="http://schemas.openxmlformats.org/officeDocument/2006/relationships/slideLayout" Target="/ppt/slideLayouts/slideLayout6.xml" Id="R63aa1f6de8474abb" /><Relationship Type="http://schemas.openxmlformats.org/officeDocument/2006/relationships/slideLayout" Target="/ppt/slideLayouts/slideLayout7.xml" Id="R199367ea856a4c32" /><Relationship Type="http://schemas.openxmlformats.org/officeDocument/2006/relationships/slideLayout" Target="/ppt/slideLayouts/slideLayout8.xml" Id="Rf89c4a0cb04b4157" /><Relationship Type="http://schemas.openxmlformats.org/officeDocument/2006/relationships/slideLayout" Target="/ppt/slideLayouts/slideLayout9.xml" Id="R08ad0be428a14564" /><Relationship Type="http://schemas.openxmlformats.org/officeDocument/2006/relationships/slideLayout" Target="/ppt/slideLayouts/slideLayout10.xml" Id="Rfa4c9c8fabd446b6" /><Relationship Type="http://schemas.openxmlformats.org/officeDocument/2006/relationships/slideLayout" Target="/ppt/slideLayouts/slideLayout11.xml" Id="R52456add9122433d"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4">
            <a:extLst xmlns:a="http://schemas.openxmlformats.org/drawingml/2006/main">
              <a:ext uri="{FF2B5EF4-FFF2-40B4-BE49-F238E27FC236}">
                <a16:creationId xmlns:a16="http://schemas.microsoft.com/office/drawing/2014/main" id="{5B20E36E-D534-4FE8-8950-74B9ACB9BC9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9pPr>
          </a:lstStyle>
          <a:p xmlns:a="http://schemas.openxmlformats.org/drawingml/2006/main"/>
        </p:txBody>
      </p:sp>
      <p:sp>
        <p:nvSpPr>
          <p:cNvPr id="7" name="Google Shape;7;p4">
            <a:extLst xmlns:a="http://schemas.openxmlformats.org/drawingml/2006/main">
              <a:ext uri="{FF2B5EF4-FFF2-40B4-BE49-F238E27FC236}">
                <a16:creationId xmlns:a16="http://schemas.microsoft.com/office/drawing/2014/main" id="{A8F29748-3281-403B-8A9B-2C88E988D8E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defRPr>
            </a:lvl9pPr>
          </a:lstStyle>
          <a:p xmlns:a="http://schemas.openxmlformats.org/drawingml/2006/main"/>
        </p:txBody>
      </p:sp>
      <p:sp>
        <p:nvSpPr>
          <p:cNvPr id="8" name="Google Shape;8;p4">
            <a:extLst xmlns:a="http://schemas.openxmlformats.org/drawingml/2006/main">
              <a:ext uri="{FF2B5EF4-FFF2-40B4-BE49-F238E27FC236}">
                <a16:creationId xmlns:a16="http://schemas.microsoft.com/office/drawing/2014/main" id="{3A06C5DB-5D58-403C-905C-0FAC7638619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e7e859594db42bc"/>
    <p:sldLayoutId xmlns:r="http://schemas.openxmlformats.org/officeDocument/2006/relationships" id="2147483650" r:id="Rca614e4b6025419e"/>
    <p:sldLayoutId xmlns:r="http://schemas.openxmlformats.org/officeDocument/2006/relationships" id="2147483651" r:id="R8458b8a5aa4f4040"/>
    <p:sldLayoutId xmlns:r="http://schemas.openxmlformats.org/officeDocument/2006/relationships" id="2147483652" r:id="Rab7df771bca14dbd"/>
    <p:sldLayoutId xmlns:r="http://schemas.openxmlformats.org/officeDocument/2006/relationships" id="2147483653" r:id="Ra06b065fa8144ad8"/>
    <p:sldLayoutId xmlns:r="http://schemas.openxmlformats.org/officeDocument/2006/relationships" id="2147483654" r:id="R63aa1f6de8474abb"/>
    <p:sldLayoutId xmlns:r="http://schemas.openxmlformats.org/officeDocument/2006/relationships" id="2147483655" r:id="R199367ea856a4c32"/>
    <p:sldLayoutId xmlns:r="http://schemas.openxmlformats.org/officeDocument/2006/relationships" id="2147483656" r:id="Rf89c4a0cb04b4157"/>
    <p:sldLayoutId xmlns:r="http://schemas.openxmlformats.org/officeDocument/2006/relationships" id="2147483657" r:id="R08ad0be428a14564"/>
    <p:sldLayoutId xmlns:r="http://schemas.openxmlformats.org/officeDocument/2006/relationships" id="2147483658" r:id="Rfa4c9c8fabd446b6"/>
    <p:sldLayoutId xmlns:r="http://schemas.openxmlformats.org/officeDocument/2006/relationships" id="2147483659" r:id="R52456add9122433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7043eabf3b42d9" /><Relationship Type="http://schemas.openxmlformats.org/officeDocument/2006/relationships/image" Target="/ppt/media/image.png" Id="R4331c9a284274940" /><Relationship Type="http://schemas.openxmlformats.org/officeDocument/2006/relationships/notesSlide" Target="/ppt/notesSlides/notesSlide1.xml" Id="R8be852d0b4d14d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112c30efaa543de" /><Relationship Type="http://schemas.openxmlformats.org/officeDocument/2006/relationships/notesSlide" Target="/ppt/notesSlides/notesSlide2.xml" Id="R090118f66b8549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ee5f1f43c25421b" /><Relationship Type="http://schemas.openxmlformats.org/officeDocument/2006/relationships/notesSlide" Target="/ppt/notesSlides/notesSlide3.xml" Id="R99c3c91d5bc944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141efbbbc4b4d61" /><Relationship Type="http://schemas.openxmlformats.org/officeDocument/2006/relationships/notesSlide" Target="/ppt/notesSlides/notesSlide4.xml" Id="R01a88a1d2b1f43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aa492537cfb49fa" /><Relationship Type="http://schemas.openxmlformats.org/officeDocument/2006/relationships/notesSlide" Target="/ppt/notesSlides/notesSlide5.xml" Id="Rb1cafd69f0524a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cc03145121d4fe3" /><Relationship Type="http://schemas.openxmlformats.org/officeDocument/2006/relationships/notesSlide" Target="/ppt/notesSlides/notesSlide6.xml" Id="R12cfc412536143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ba6fdf607ee4521" /><Relationship Type="http://schemas.openxmlformats.org/officeDocument/2006/relationships/notesSlide" Target="/ppt/notesSlides/notesSlide7.xml" Id="Rcca0f364d80f4a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f4532fb74e54680" /><Relationship Type="http://schemas.openxmlformats.org/officeDocument/2006/relationships/notesSlide" Target="/ppt/notesSlides/notesSlide8.xml" Id="Rdbeade390ba946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a0ea36d71214ce4" /><Relationship Type="http://schemas.openxmlformats.org/officeDocument/2006/relationships/notesSlide" Target="/ppt/notesSlides/notesSlide9.xml" Id="Re2bfd1fc94be46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d3823245467403d" /><Relationship Type="http://schemas.openxmlformats.org/officeDocument/2006/relationships/notesSlide" Target="/ppt/notesSlides/notesSlide10.xml" Id="R5974f19bd9a2478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
            <a:extLst xmlns:a="http://schemas.openxmlformats.org/drawingml/2006/main">
              <a:ext uri="{FF2B5EF4-FFF2-40B4-BE49-F238E27FC236}">
                <a16:creationId xmlns:a16="http://schemas.microsoft.com/office/drawing/2014/main" id="{FE2582E0-1225-440F-B867-3E1F4C3F38BE}"/>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5200"/>
              <a:buNone/>
            </a:pPr>
            <a:r>
              <a:t>JanaМен</a:t>
            </a:r>
            <a:endParaRPr/>
          </a:p>
        </p:txBody>
      </p:sp>
      <p:sp>
        <p:nvSpPr>
          <p:cNvPr id="55" name="Google Shape;55;p1">
            <a:extLst xmlns:a="http://schemas.openxmlformats.org/drawingml/2006/main">
              <a:ext uri="{FF2B5EF4-FFF2-40B4-BE49-F238E27FC236}">
                <a16:creationId xmlns:a16="http://schemas.microsoft.com/office/drawing/2014/main" id="{C27536DC-34BF-4231-9C51-1F1E9CBA09E6}"/>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2800"/>
              <a:buNone/>
            </a:pPr>
            <a:r>
              <a:t>PostTech</a:t>
            </a:r>
            <a:endParaRPr/>
          </a:p>
        </p:txBody>
      </p:sp>
      <p:pic>
        <p:nvPicPr>
          <p:cNvPr id="56" name="Google Shape;56;p1">
            <a:extLst xmlns:a="http://schemas.openxmlformats.org/drawingml/2006/main">
              <a:ext uri="{FF2B5EF4-FFF2-40B4-BE49-F238E27FC236}">
                <a16:creationId xmlns:a16="http://schemas.microsoft.com/office/drawing/2014/main" id="{D3889080-BAA1-4ECF-A906-958F4363B04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331c9a284274940">
            <a:alphaModFix/>
          </a:blip>
          <a:srcRect xmlns:a="http://schemas.openxmlformats.org/drawingml/2006/main" l="0" t="0" r="0" b="0"/>
          <a:stretch xmlns:a="http://schemas.openxmlformats.org/drawingml/2006/main"/>
        </p:blipFill>
        <p:spPr>
          <a:xfrm xmlns:a="http://schemas.openxmlformats.org/drawingml/2006/main">
            <a:off x="0" y="0"/>
            <a:ext cx="4356099" cy="744575"/>
          </a:xfrm>
          <a:prstGeom xmlns:a="http://schemas.openxmlformats.org/drawingml/2006/main" prst="rect">
            <a:avLst/>
          </a:prstGeom>
          <a:ln xmlns:a="http://schemas.openxmlformats.org/drawingml/2006/main">
            <a:noFill/>
          </a:ln>
        </p:spPr>
      </p:pic>
      <p:sp>
        <p:nvSpPr>
          <p:cNvPr id="57" name="Google Shape;57;p1">
            <a:extLst xmlns:a="http://schemas.openxmlformats.org/drawingml/2006/main">
              <a:ext uri="{FF2B5EF4-FFF2-40B4-BE49-F238E27FC236}">
                <a16:creationId xmlns:a16="http://schemas.microsoft.com/office/drawing/2014/main" id="{101A3174-59CC-4F49-B3E9-9A7ACAE64669}"/>
              </a:ext>
            </a:extLst>
          </p:cNvPr>
          <p:cNvSpPr>
            <a:spLocks xmlns:a="http://schemas.openxmlformats.org/drawingml/2006/main" noGrp="1"/>
          </p:cNvSpPr>
          <p:nvPr/>
        </p:nvSpPr>
        <p:spPr>
          <a:xfrm xmlns:a="http://schemas.openxmlformats.org/drawingml/2006/main">
            <a:off x="3736575" y="4670225"/>
            <a:ext cx="23160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Қарағанды, 2026</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58695543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2" name="Google Shape;62;p2">
            <a:extLst xmlns:a="http://schemas.openxmlformats.org/drawingml/2006/main">
              <a:ext uri="{FF2B5EF4-FFF2-40B4-BE49-F238E27FC236}">
                <a16:creationId xmlns:a16="http://schemas.microsoft.com/office/drawing/2014/main" id="{B023FFB6-DDE0-42D9-8976-6BD986DC8D4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defRPr sz="2520" b="0">
                <a:solidFill>
                  <a:srgbClr val="000000"/>
                </a:solidFill>
                <a:latin typeface="Arial"/>
                <a:ea typeface="Arial"/>
                <a:cs typeface="Arial"/>
              </a:defRPr>
            </a:lvl1pPr>
            <a:lvl2pPr algn="l">
              <a:defRPr sz="2520" b="0">
                <a:solidFill>
                  <a:srgbClr val="000000"/>
                </a:solidFill>
                <a:latin typeface="Arial"/>
                <a:ea typeface="Arial"/>
                <a:cs typeface="Arial"/>
              </a:defRPr>
            </a:lvl2pPr>
            <a:lvl3pPr algn="l">
              <a:defRPr sz="2520" b="0">
                <a:solidFill>
                  <a:srgbClr val="000000"/>
                </a:solidFill>
                <a:latin typeface="Arial"/>
                <a:ea typeface="Arial"/>
                <a:cs typeface="Arial"/>
              </a:defRPr>
            </a:lvl3pPr>
            <a:lvl4pPr algn="l">
              <a:defRPr sz="2520" b="0">
                <a:solidFill>
                  <a:srgbClr val="000000"/>
                </a:solidFill>
                <a:latin typeface="Arial"/>
                <a:ea typeface="Arial"/>
                <a:cs typeface="Arial"/>
              </a:defRPr>
            </a:lvl4pPr>
            <a:lvl5pPr algn="l">
              <a:defRPr sz="2520" b="0">
                <a:solidFill>
                  <a:srgbClr val="000000"/>
                </a:solidFill>
                <a:latin typeface="Arial"/>
                <a:ea typeface="Arial"/>
                <a:cs typeface="Arial"/>
              </a:defRPr>
            </a:lvl5pPr>
            <a:lvl6pPr algn="l">
              <a:defRPr sz="2520" b="0">
                <a:solidFill>
                  <a:srgbClr val="000000"/>
                </a:solidFill>
                <a:latin typeface="Arial"/>
                <a:ea typeface="Arial"/>
                <a:cs typeface="Arial"/>
              </a:defRPr>
            </a:lvl6pPr>
            <a:lvl7pPr algn="l">
              <a:defRPr sz="2520" b="0">
                <a:solidFill>
                  <a:srgbClr val="000000"/>
                </a:solidFill>
                <a:latin typeface="Arial"/>
                <a:ea typeface="Arial"/>
                <a:cs typeface="Arial"/>
              </a:defRPr>
            </a:lvl7pPr>
            <a:lvl8pPr algn="l">
              <a:defRPr sz="2520" b="0">
                <a:solidFill>
                  <a:srgbClr val="000000"/>
                </a:solidFill>
                <a:latin typeface="Arial"/>
                <a:ea typeface="Arial"/>
                <a:cs typeface="Arial"/>
              </a:defRPr>
            </a:lvl8pPr>
            <a:lvl9pPr algn="l">
              <a:defRPr sz="2520" b="0">
                <a:solidFill>
                  <a:srgbClr val="000000"/>
                </a:solidFill>
                <a:latin typeface="Arial"/>
                <a:ea typeface="Arial"/>
                <a:cs typeface="Arial"/>
              </a:defRPr>
            </a:lvl9pPr>
          </a:lstStyle>
          <a:p xmlns:a="http://schemas.openxmlformats.org/drawingml/2006/main">
            <a:pPr marL="0" lvl="0" indent="0" algn="l">
              <a:lnSpc>
                <a:spcPct val="100000"/>
              </a:lnSpc>
              <a:spcBef>
                <a:spcPts val="0"/>
              </a:spcBef>
              <a:spcAft>
                <a:spcPts val="0"/>
              </a:spcAft>
              <a:buSzPct val="111111"/>
              <a:buNone/>
              <a:defRPr sz="2520" b="0">
                <a:solidFill>
                  <a:srgbClr val="000000"/>
                </a:solidFill>
                <a:latin typeface="Arial"/>
                <a:ea typeface="Arial"/>
                <a:cs typeface="Arial"/>
              </a:defRPr>
            </a:pPr>
            <a:r>
              <a:rPr sz="2520" b="0">
                <a:solidFill>
                  <a:srgbClr val="000000"/>
                </a:solidFill>
                <a:latin typeface="Arial"/>
                <a:ea typeface="Arial"/>
                <a:cs typeface="Arial"/>
              </a:rPr>
              <a:t>Мәселе және бірыңғай шешім</a:t>
            </a:r>
            <a:endParaRPr/>
          </a:p>
        </p:txBody>
      </p:sp>
      <p:sp>
        <p:nvSpPr>
          <p:cNvPr id="63" name="Google Shape;63;p2">
            <a:extLst xmlns:a="http://schemas.openxmlformats.org/drawingml/2006/main">
              <a:ext uri="{FF2B5EF4-FFF2-40B4-BE49-F238E27FC236}">
                <a16:creationId xmlns:a16="http://schemas.microsoft.com/office/drawing/2014/main" id="{21091227-B7BB-496D-B2D7-2454E639B82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algn="l">
              <a:defRPr sz="1800" b="0">
                <a:solidFill>
                  <a:srgbClr val="595959"/>
                </a:solidFill>
                <a:latin typeface="Arial"/>
                <a:ea typeface="Arial"/>
                <a:cs typeface="Arial"/>
              </a:defRPr>
            </a:lvl1pPr>
            <a:lvl2pPr algn="l">
              <a:defRPr sz="1800" b="0">
                <a:solidFill>
                  <a:srgbClr val="595959"/>
                </a:solidFill>
                <a:latin typeface="Arial"/>
                <a:ea typeface="Arial"/>
                <a:cs typeface="Arial"/>
              </a:defRPr>
            </a:lvl2pPr>
            <a:lvl3pPr algn="l">
              <a:defRPr sz="1800" b="0">
                <a:solidFill>
                  <a:srgbClr val="595959"/>
                </a:solidFill>
                <a:latin typeface="Arial"/>
                <a:ea typeface="Arial"/>
                <a:cs typeface="Arial"/>
              </a:defRPr>
            </a:lvl3pPr>
            <a:lvl4pPr algn="l">
              <a:defRPr sz="1800" b="0">
                <a:solidFill>
                  <a:srgbClr val="595959"/>
                </a:solidFill>
                <a:latin typeface="Arial"/>
                <a:ea typeface="Arial"/>
                <a:cs typeface="Arial"/>
              </a:defRPr>
            </a:lvl4pPr>
            <a:lvl5pPr algn="l">
              <a:defRPr sz="1800" b="0">
                <a:solidFill>
                  <a:srgbClr val="595959"/>
                </a:solidFill>
                <a:latin typeface="Arial"/>
                <a:ea typeface="Arial"/>
                <a:cs typeface="Arial"/>
              </a:defRPr>
            </a:lvl5pPr>
            <a:lvl6pPr algn="l">
              <a:defRPr sz="1800" b="0">
                <a:solidFill>
                  <a:srgbClr val="595959"/>
                </a:solidFill>
                <a:latin typeface="Arial"/>
                <a:ea typeface="Arial"/>
                <a:cs typeface="Arial"/>
              </a:defRPr>
            </a:lvl6pPr>
            <a:lvl7pPr algn="l">
              <a:defRPr sz="1800" b="0">
                <a:solidFill>
                  <a:srgbClr val="595959"/>
                </a:solidFill>
                <a:latin typeface="Arial"/>
                <a:ea typeface="Arial"/>
                <a:cs typeface="Arial"/>
              </a:defRPr>
            </a:lvl7pPr>
            <a:lvl8pPr algn="l">
              <a:defRPr sz="1800" b="0">
                <a:solidFill>
                  <a:srgbClr val="595959"/>
                </a:solidFill>
                <a:latin typeface="Arial"/>
                <a:ea typeface="Arial"/>
                <a:cs typeface="Arial"/>
              </a:defRPr>
            </a:lvl8pPr>
            <a:lvl9pPr algn="l">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Қазіргі жағдай: кадрлық деректер, өтінімдер, оқу және HR жауаптары әртүрлі арналарда орналасқан.</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JanaМен осы қызметтерді бір кабинетке біріктіреді. Қызметкер деректі көріп, өтінім беріп, нәтижесін бақылайды.</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Нәтиже: қызметкер, басшы және HR арасындағы әрекеттер мәртебе, тарих және хабарламалар арқылы байланысады.</a:t>
            </a:r>
          </a:p>
        </p:txBody>
      </p:sp>
    </p:spTree>
    <p:extLst>
      <p:ext uri="{BB962C8B-B14F-4D97-AF65-F5344CB8AC3E}">
        <p14:creationId xmlns:p14="http://schemas.microsoft.com/office/powerpoint/2010/main" val="126696209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8" name="Google Shape;68;p3">
            <a:extLst xmlns:a="http://schemas.openxmlformats.org/drawingml/2006/main">
              <a:ext uri="{FF2B5EF4-FFF2-40B4-BE49-F238E27FC236}">
                <a16:creationId xmlns:a16="http://schemas.microsoft.com/office/drawing/2014/main" id="{73CF4B24-7FD3-4922-B71F-658E8D408E6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defRPr sz="2520" b="0">
                <a:solidFill>
                  <a:srgbClr val="000000"/>
                </a:solidFill>
                <a:latin typeface="Arial"/>
                <a:ea typeface="Arial"/>
                <a:cs typeface="Arial"/>
              </a:defRPr>
            </a:lvl1pPr>
            <a:lvl2pPr algn="l">
              <a:defRPr sz="2520" b="0">
                <a:solidFill>
                  <a:srgbClr val="000000"/>
                </a:solidFill>
                <a:latin typeface="Arial"/>
                <a:ea typeface="Arial"/>
                <a:cs typeface="Arial"/>
              </a:defRPr>
            </a:lvl2pPr>
            <a:lvl3pPr algn="l">
              <a:defRPr sz="2520" b="0">
                <a:solidFill>
                  <a:srgbClr val="000000"/>
                </a:solidFill>
                <a:latin typeface="Arial"/>
                <a:ea typeface="Arial"/>
                <a:cs typeface="Arial"/>
              </a:defRPr>
            </a:lvl3pPr>
            <a:lvl4pPr algn="l">
              <a:defRPr sz="2520" b="0">
                <a:solidFill>
                  <a:srgbClr val="000000"/>
                </a:solidFill>
                <a:latin typeface="Arial"/>
                <a:ea typeface="Arial"/>
                <a:cs typeface="Arial"/>
              </a:defRPr>
            </a:lvl4pPr>
            <a:lvl5pPr algn="l">
              <a:defRPr sz="2520" b="0">
                <a:solidFill>
                  <a:srgbClr val="000000"/>
                </a:solidFill>
                <a:latin typeface="Arial"/>
                <a:ea typeface="Arial"/>
                <a:cs typeface="Arial"/>
              </a:defRPr>
            </a:lvl5pPr>
            <a:lvl6pPr algn="l">
              <a:defRPr sz="2520" b="0">
                <a:solidFill>
                  <a:srgbClr val="000000"/>
                </a:solidFill>
                <a:latin typeface="Arial"/>
                <a:ea typeface="Arial"/>
                <a:cs typeface="Arial"/>
              </a:defRPr>
            </a:lvl6pPr>
            <a:lvl7pPr algn="l">
              <a:defRPr sz="2520" b="0">
                <a:solidFill>
                  <a:srgbClr val="000000"/>
                </a:solidFill>
                <a:latin typeface="Arial"/>
                <a:ea typeface="Arial"/>
                <a:cs typeface="Arial"/>
              </a:defRPr>
            </a:lvl7pPr>
            <a:lvl8pPr algn="l">
              <a:defRPr sz="2520" b="0">
                <a:solidFill>
                  <a:srgbClr val="000000"/>
                </a:solidFill>
                <a:latin typeface="Arial"/>
                <a:ea typeface="Arial"/>
                <a:cs typeface="Arial"/>
              </a:defRPr>
            </a:lvl8pPr>
            <a:lvl9pPr algn="l">
              <a:defRPr sz="2520" b="0">
                <a:solidFill>
                  <a:srgbClr val="000000"/>
                </a:solidFill>
                <a:latin typeface="Arial"/>
                <a:ea typeface="Arial"/>
                <a:cs typeface="Arial"/>
              </a:defRPr>
            </a:lvl9pPr>
          </a:lstStyle>
          <a:p xmlns:a="http://schemas.openxmlformats.org/drawingml/2006/main">
            <a:pPr marL="0" lvl="0" indent="0" algn="l">
              <a:lnSpc>
                <a:spcPct val="100000"/>
              </a:lnSpc>
              <a:spcBef>
                <a:spcPts val="0"/>
              </a:spcBef>
              <a:spcAft>
                <a:spcPts val="0"/>
              </a:spcAft>
              <a:buSzPct val="111111"/>
              <a:buNone/>
              <a:defRPr sz="2520" b="0">
                <a:solidFill>
                  <a:srgbClr val="000000"/>
                </a:solidFill>
                <a:latin typeface="Arial"/>
                <a:ea typeface="Arial"/>
                <a:cs typeface="Arial"/>
              </a:defRPr>
            </a:pPr>
            <a:r>
              <a:rPr sz="2520" b="0">
                <a:solidFill>
                  <a:srgbClr val="000000"/>
                </a:solidFill>
                <a:latin typeface="Arial"/>
                <a:ea typeface="Arial"/>
                <a:cs typeface="Arial"/>
              </a:rPr>
              <a:t>Үш рөл және қолжетімділік</a:t>
            </a:r>
            <a:endParaRPr/>
          </a:p>
        </p:txBody>
      </p:sp>
      <p:sp>
        <p:nvSpPr>
          <p:cNvPr id="69" name="Google Shape;69;p3">
            <a:extLst xmlns:a="http://schemas.openxmlformats.org/drawingml/2006/main">
              <a:ext uri="{FF2B5EF4-FFF2-40B4-BE49-F238E27FC236}">
                <a16:creationId xmlns:a16="http://schemas.microsoft.com/office/drawing/2014/main" id="{E331D1EE-5695-42E8-BE1B-759C4DFFF81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algn="l">
              <a:defRPr sz="1800" b="0">
                <a:solidFill>
                  <a:srgbClr val="595959"/>
                </a:solidFill>
                <a:latin typeface="Arial"/>
                <a:ea typeface="Arial"/>
                <a:cs typeface="Arial"/>
              </a:defRPr>
            </a:lvl1pPr>
            <a:lvl2pPr algn="l">
              <a:defRPr sz="1800" b="0">
                <a:solidFill>
                  <a:srgbClr val="595959"/>
                </a:solidFill>
                <a:latin typeface="Arial"/>
                <a:ea typeface="Arial"/>
                <a:cs typeface="Arial"/>
              </a:defRPr>
            </a:lvl2pPr>
            <a:lvl3pPr algn="l">
              <a:defRPr sz="1800" b="0">
                <a:solidFill>
                  <a:srgbClr val="595959"/>
                </a:solidFill>
                <a:latin typeface="Arial"/>
                <a:ea typeface="Arial"/>
                <a:cs typeface="Arial"/>
              </a:defRPr>
            </a:lvl3pPr>
            <a:lvl4pPr algn="l">
              <a:defRPr sz="1800" b="0">
                <a:solidFill>
                  <a:srgbClr val="595959"/>
                </a:solidFill>
                <a:latin typeface="Arial"/>
                <a:ea typeface="Arial"/>
                <a:cs typeface="Arial"/>
              </a:defRPr>
            </a:lvl4pPr>
            <a:lvl5pPr algn="l">
              <a:defRPr sz="1800" b="0">
                <a:solidFill>
                  <a:srgbClr val="595959"/>
                </a:solidFill>
                <a:latin typeface="Arial"/>
                <a:ea typeface="Arial"/>
                <a:cs typeface="Arial"/>
              </a:defRPr>
            </a:lvl5pPr>
            <a:lvl6pPr algn="l">
              <a:defRPr sz="1800" b="0">
                <a:solidFill>
                  <a:srgbClr val="595959"/>
                </a:solidFill>
                <a:latin typeface="Arial"/>
                <a:ea typeface="Arial"/>
                <a:cs typeface="Arial"/>
              </a:defRPr>
            </a:lvl6pPr>
            <a:lvl7pPr algn="l">
              <a:defRPr sz="1800" b="0">
                <a:solidFill>
                  <a:srgbClr val="595959"/>
                </a:solidFill>
                <a:latin typeface="Arial"/>
                <a:ea typeface="Arial"/>
                <a:cs typeface="Arial"/>
              </a:defRPr>
            </a:lvl7pPr>
            <a:lvl8pPr algn="l">
              <a:defRPr sz="1800" b="0">
                <a:solidFill>
                  <a:srgbClr val="595959"/>
                </a:solidFill>
                <a:latin typeface="Arial"/>
                <a:ea typeface="Arial"/>
                <a:cs typeface="Arial"/>
              </a:defRPr>
            </a:lvl8pPr>
            <a:lvl9pPr algn="l">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Қызметкер: өз профилі, демалыс өтінімдері, оқу, хабарламалар және AI Jana.</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Басшы: тікелей бағынышты қызметкерлердің өтінімдерін қарау және шешім қабылдау.</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HR: өз компаниясының қызметкерлер каталогы, іздеу, өтінімдер мен тарихқа шолу.</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Қолжетімділікті сервер тексереді. Ресми кадрлық деректер тек оқуға арналған. Өз байланыс деректерін өзгертуге болады.</a:t>
            </a:r>
          </a:p>
        </p:txBody>
      </p:sp>
    </p:spTree>
    <p:extLst>
      <p:ext uri="{BB962C8B-B14F-4D97-AF65-F5344CB8AC3E}">
        <p14:creationId xmlns:p14="http://schemas.microsoft.com/office/powerpoint/2010/main" val="57010544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6968F84F-65B2-4889-8F44-441B95EA5E2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Демалыс өтінімінің толық сценарийі</a:t>
            </a:r>
          </a:p>
        </p:txBody>
      </p:sp>
      <p:sp>
        <p:nvSpPr>
          <p:cNvPr id="3" name="Google Shape;15;p6">
            <a:extLst xmlns:a="http://schemas.openxmlformats.org/drawingml/2006/main">
              <a:ext uri="{FF2B5EF4-FFF2-40B4-BE49-F238E27FC236}">
                <a16:creationId xmlns:a16="http://schemas.microsoft.com/office/drawing/2014/main" id="{E1F87B83-306A-496B-904B-52D0E1A5100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Қызметкер күндерді таңдайды. Сервер күндердің қиылысуын және қолжетімді демалыс қалдығын тексереді.</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Басшы мақұлдаса, мәртебе жаңарады, күндер бір рет шегеріледі және қызметкер хабарлама алады.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Қабылдамау үшін түсініктеме міндетті. Бұл жағдайда күндер шегерілмейді.</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Шешімге дейін кері қайтарып алу және жаңа нөмірмен қайта беру бар. Бастапқы өтінім мен өзгерістер тарихы сақталады.</a:t>
            </a:r>
          </a:p>
        </p:txBody>
      </p:sp>
    </p:spTree>
    <p:extLst>
      <p:ext uri="{BB962C8B-B14F-4D97-AF65-F5344CB8AC3E}">
        <p14:creationId xmlns:p14="http://schemas.microsoft.com/office/powerpoint/2010/main" val="173625858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6968F84F-65B2-4889-8F44-441B95EA5E2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Jana Academy: оқу және нәтиже</a:t>
            </a:r>
          </a:p>
        </p:txBody>
      </p:sp>
      <p:sp>
        <p:nvSpPr>
          <p:cNvPr id="3" name="Google Shape;15;p6">
            <a:extLst xmlns:a="http://schemas.openxmlformats.org/drawingml/2006/main">
              <a:ext uri="{FF2B5EF4-FFF2-40B4-BE49-F238E27FC236}">
                <a16:creationId xmlns:a16="http://schemas.microsoft.com/office/drawing/2014/main" id="{E1F87B83-306A-496B-904B-52D0E1A5100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Сынақ деректерінде 2 курс бар. Қызметкер материалдарды өтіп, тест тапсырады.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Курсты аяқтау шегі: 80%. Сервер прогресті, жауаптарды, нәтижені және талпыныстар тарихын сақтайды.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Нәтиже жеткіліксіз болса, тестті қайта тапсыруға болады. Курс аяқталғанда бір хабарлама жасалады.</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60% және 100% нәтижелі талпыныстар мен бетті жаңартқаннан кейінгі сақталуы тексерілді.</a:t>
            </a:r>
          </a:p>
        </p:txBody>
      </p:sp>
    </p:spTree>
    <p:extLst>
      <p:ext uri="{BB962C8B-B14F-4D97-AF65-F5344CB8AC3E}">
        <p14:creationId xmlns:p14="http://schemas.microsoft.com/office/powerpoint/2010/main" val="105370699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6968F84F-65B2-4889-8F44-441B95EA5E2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AI Jana: жауап және дереккөз</a:t>
            </a:r>
          </a:p>
        </p:txBody>
      </p:sp>
      <p:sp>
        <p:nvSpPr>
          <p:cNvPr id="3" name="Google Shape;15;p6">
            <a:extLst xmlns:a="http://schemas.openxmlformats.org/drawingml/2006/main">
              <a:ext uri="{FF2B5EF4-FFF2-40B4-BE49-F238E27FC236}">
                <a16:creationId xmlns:a16="http://schemas.microsoft.com/office/drawing/2014/main" id="{E1F87B83-306A-496B-904B-52D0E1A5100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База қамтитын сұраққа жауап және пайдаланылған нұсқаулыққа сілтеме беріледі.</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Сенімді ақпарат болмаса, көмекші жауап жоқ екенін хабарлап, HR-ға бағыттайды.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Қазіргі прототип 9 сынақ мақаласы бойынша іздейді. Сыртқы тілдік модель қосылмаған.</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Келесі кезең: HR бекіткен білім базасын кеңейту және жауап сапасын сұрақтар жиыны бойынша бағалау.</a:t>
            </a:r>
          </a:p>
        </p:txBody>
      </p:sp>
    </p:spTree>
    <p:extLst>
      <p:ext uri="{BB962C8B-B14F-4D97-AF65-F5344CB8AC3E}">
        <p14:creationId xmlns:p14="http://schemas.microsoft.com/office/powerpoint/2010/main" val="16227958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6968F84F-65B2-4889-8F44-441B95EA5E2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Мобильді кабинет және бірізді UX</a:t>
            </a:r>
          </a:p>
        </p:txBody>
      </p:sp>
      <p:sp>
        <p:nvSpPr>
          <p:cNvPr id="3" name="Google Shape;15;p6">
            <a:extLst xmlns:a="http://schemas.openxmlformats.org/drawingml/2006/main">
              <a:ext uri="{FF2B5EF4-FFF2-40B4-BE49-F238E27FC236}">
                <a16:creationId xmlns:a16="http://schemas.microsoft.com/office/drawing/2014/main" id="{E1F87B83-306A-496B-904B-52D0E1A5100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Бір кабинет үлкен және шағын экранда қолжетімді. Браузерде 320–430 px ендері тексерілді.</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Мәзір, өтінім іздеу, сүзгілер, демалыс формасы және үш рөлдің сценарийлері қаралды.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Өрістер мен батырмалардың өлшемі, мәтін тасымалы, қате көрсету және модаль терезелер түзетілді.</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Нақты мобильді құрылғылардағы толық сынақ пен сайттың RU/KZ локализациясы келесі кезеңге жатады.</a:t>
            </a:r>
          </a:p>
        </p:txBody>
      </p:sp>
    </p:spTree>
    <p:extLst>
      <p:ext uri="{BB962C8B-B14F-4D97-AF65-F5344CB8AC3E}">
        <p14:creationId xmlns:p14="http://schemas.microsoft.com/office/powerpoint/2010/main" val="25436995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6968F84F-65B2-4889-8F44-441B95EA5E2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Архитектура және интеграциялар</a:t>
            </a:r>
          </a:p>
        </p:txBody>
      </p:sp>
      <p:sp>
        <p:nvSpPr>
          <p:cNvPr id="3" name="Google Shape;15;p6">
            <a:extLst xmlns:a="http://schemas.openxmlformats.org/drawingml/2006/main">
              <a:ext uri="{FF2B5EF4-FFF2-40B4-BE49-F238E27FC236}">
                <a16:creationId xmlns:a16="http://schemas.microsoft.com/office/drawing/2014/main" id="{E1F87B83-306A-496B-904B-52D0E1A5100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Қазір жұмыс істейді: React + TypeScript + Vite интерфейсі, Node.js + Fastify сервері және PostgreSQL дерекқоры.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Рөлдер мен бизнес ережелер серверде орындалады. Өтінімдер, тарих, оқу, байланыс деректері мен хабарламалар базада сақталады.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Болашақта: 1С:ЗУП кадрлық деректер үшін, Documentolog басшы шешімінен кейінгі құжаттар үшін қосылады.</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Адаптерлер, сәйкестендіру, outbox/inbox және ақауларды өңдеу сипатталған. Сыртқы интеграциялар әлі қосылмаған.</a:t>
            </a:r>
          </a:p>
        </p:txBody>
      </p:sp>
    </p:spTree>
    <p:extLst>
      <p:ext uri="{BB962C8B-B14F-4D97-AF65-F5344CB8AC3E}">
        <p14:creationId xmlns:p14="http://schemas.microsoft.com/office/powerpoint/2010/main" val="70143502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6968F84F-65B2-4889-8F44-441B95EA5E2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Тексерулер және алынған нәтиже</a:t>
            </a:r>
          </a:p>
        </p:txBody>
      </p:sp>
      <p:sp>
        <p:nvSpPr>
          <p:cNvPr id="3" name="Google Shape;15;p6">
            <a:extLst xmlns:a="http://schemas.openxmlformats.org/drawingml/2006/main">
              <a:ext uri="{FF2B5EF4-FFF2-40B4-BE49-F238E27FC236}">
                <a16:creationId xmlns:a16="http://schemas.microsoft.com/office/drawing/2014/main" id="{E1F87B83-306A-496B-904B-52D0E1A5100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103 регрессиялық тест: фронтендте 75, бэкендте 28. ТТ талаптарына қатысты 8 жеке тексеру өтті.</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Рөлдер, API деректері, күндердің қиылысуы, қалдық және қайта шешім қабылдауға тыйым тексерілді.</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Сайт арқылы мақұлдау, қабылдамау, қайта беру және бетті жаңартудан кейін сақтау сценарийлері тексерілді.</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Аудит күні: 18.10.2026. Бұл нәтижелер өндірістік дайындықты немесе қауіпсіздік сертификатын білдірмейді.</a:t>
            </a:r>
          </a:p>
        </p:txBody>
      </p:sp>
    </p:spTree>
    <p:extLst>
      <p:ext uri="{BB962C8B-B14F-4D97-AF65-F5344CB8AC3E}">
        <p14:creationId xmlns:p14="http://schemas.microsoft.com/office/powerpoint/2010/main" val="171921139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Google Shape;14;p6">
            <a:extLst xmlns:a="http://schemas.openxmlformats.org/drawingml/2006/main">
              <a:ext uri="{FF2B5EF4-FFF2-40B4-BE49-F238E27FC236}">
                <a16:creationId xmlns:a16="http://schemas.microsoft.com/office/drawing/2014/main" id="{6968F84F-65B2-4889-8F44-441B95EA5E2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2520" b="0">
                <a:solidFill>
                  <a:srgbClr val="000000"/>
                </a:solidFill>
                <a:latin typeface="Arial"/>
                <a:ea typeface="Arial"/>
                <a:cs typeface="Arial"/>
              </a:defRPr>
            </a:defPPr>
            <a:lvl1pPr algn="l">
              <a:lnSpc>
                <a:spcPct val="100000"/>
              </a:lnSpc>
              <a:spcBef>
                <a:spcPts val="0"/>
              </a:spcBef>
              <a:spcAft>
                <a:spcPts val="0"/>
              </a:spcAft>
              <a:buSzPts val="2800"/>
              <a:buNone/>
              <a:defRPr sz="2520" b="0">
                <a:solidFill>
                  <a:srgbClr val="000000"/>
                </a:solidFill>
                <a:latin typeface="Arial"/>
                <a:ea typeface="Arial"/>
                <a:cs typeface="Arial"/>
              </a:defRPr>
            </a:lvl1pPr>
            <a:lvl2pPr algn="l">
              <a:lnSpc>
                <a:spcPct val="100000"/>
              </a:lnSpc>
              <a:spcBef>
                <a:spcPts val="0"/>
              </a:spcBef>
              <a:spcAft>
                <a:spcPts val="0"/>
              </a:spcAft>
              <a:buSzPts val="2800"/>
              <a:buNone/>
              <a:defRPr sz="2520" b="0">
                <a:solidFill>
                  <a:srgbClr val="000000"/>
                </a:solidFill>
                <a:latin typeface="Arial"/>
                <a:ea typeface="Arial"/>
                <a:cs typeface="Arial"/>
              </a:defRPr>
            </a:lvl2pPr>
            <a:lvl3pPr algn="l">
              <a:lnSpc>
                <a:spcPct val="100000"/>
              </a:lnSpc>
              <a:spcBef>
                <a:spcPts val="0"/>
              </a:spcBef>
              <a:spcAft>
                <a:spcPts val="0"/>
              </a:spcAft>
              <a:buSzPts val="2800"/>
              <a:buNone/>
              <a:defRPr sz="2520" b="0">
                <a:solidFill>
                  <a:srgbClr val="000000"/>
                </a:solidFill>
                <a:latin typeface="Arial"/>
                <a:ea typeface="Arial"/>
                <a:cs typeface="Arial"/>
              </a:defRPr>
            </a:lvl3pPr>
            <a:lvl4pPr algn="l">
              <a:lnSpc>
                <a:spcPct val="100000"/>
              </a:lnSpc>
              <a:spcBef>
                <a:spcPts val="0"/>
              </a:spcBef>
              <a:spcAft>
                <a:spcPts val="0"/>
              </a:spcAft>
              <a:buSzPts val="2800"/>
              <a:buNone/>
              <a:defRPr sz="2520" b="0">
                <a:solidFill>
                  <a:srgbClr val="000000"/>
                </a:solidFill>
                <a:latin typeface="Arial"/>
                <a:ea typeface="Arial"/>
                <a:cs typeface="Arial"/>
              </a:defRPr>
            </a:lvl4pPr>
            <a:lvl5pPr algn="l">
              <a:lnSpc>
                <a:spcPct val="100000"/>
              </a:lnSpc>
              <a:spcBef>
                <a:spcPts val="0"/>
              </a:spcBef>
              <a:spcAft>
                <a:spcPts val="0"/>
              </a:spcAft>
              <a:buSzPts val="2800"/>
              <a:buNone/>
              <a:defRPr sz="2520" b="0">
                <a:solidFill>
                  <a:srgbClr val="000000"/>
                </a:solidFill>
                <a:latin typeface="Arial"/>
                <a:ea typeface="Arial"/>
                <a:cs typeface="Arial"/>
              </a:defRPr>
            </a:lvl5pPr>
            <a:lvl6pPr algn="l">
              <a:lnSpc>
                <a:spcPct val="100000"/>
              </a:lnSpc>
              <a:spcBef>
                <a:spcPts val="0"/>
              </a:spcBef>
              <a:spcAft>
                <a:spcPts val="0"/>
              </a:spcAft>
              <a:buSzPts val="2800"/>
              <a:buNone/>
              <a:defRPr sz="2520" b="0">
                <a:solidFill>
                  <a:srgbClr val="000000"/>
                </a:solidFill>
                <a:latin typeface="Arial"/>
                <a:ea typeface="Arial"/>
                <a:cs typeface="Arial"/>
              </a:defRPr>
            </a:lvl6pPr>
            <a:lvl7pPr algn="l">
              <a:lnSpc>
                <a:spcPct val="100000"/>
              </a:lnSpc>
              <a:spcBef>
                <a:spcPts val="0"/>
              </a:spcBef>
              <a:spcAft>
                <a:spcPts val="0"/>
              </a:spcAft>
              <a:buSzPts val="2800"/>
              <a:buNone/>
              <a:defRPr sz="2520" b="0">
                <a:solidFill>
                  <a:srgbClr val="000000"/>
                </a:solidFill>
                <a:latin typeface="Arial"/>
                <a:ea typeface="Arial"/>
                <a:cs typeface="Arial"/>
              </a:defRPr>
            </a:lvl7pPr>
            <a:lvl8pPr algn="l">
              <a:lnSpc>
                <a:spcPct val="100000"/>
              </a:lnSpc>
              <a:spcBef>
                <a:spcPts val="0"/>
              </a:spcBef>
              <a:spcAft>
                <a:spcPts val="0"/>
              </a:spcAft>
              <a:buSzPts val="2800"/>
              <a:buNone/>
              <a:defRPr sz="2520" b="0">
                <a:solidFill>
                  <a:srgbClr val="000000"/>
                </a:solidFill>
                <a:latin typeface="Arial"/>
                <a:ea typeface="Arial"/>
                <a:cs typeface="Arial"/>
              </a:defRPr>
            </a:lvl8pPr>
            <a:lvl9pPr algn="l">
              <a:lnSpc>
                <a:spcPct val="100000"/>
              </a:lnSpc>
              <a:spcBef>
                <a:spcPts val="0"/>
              </a:spcBef>
              <a:spcAft>
                <a:spcPts val="0"/>
              </a:spcAft>
              <a:buSzPts val="2800"/>
              <a:buNone/>
              <a:defRPr sz="2520" b="0">
                <a:solidFill>
                  <a:srgbClr val="000000"/>
                </a:solidFill>
                <a:latin typeface="Arial"/>
                <a:ea typeface="Arial"/>
                <a:cs typeface="Arial"/>
              </a:defRPr>
            </a:lvl9pPr>
          </a:lstStyle>
          <a:p xmlns:a="http://schemas.openxmlformats.org/drawingml/2006/main">
            <a:pPr algn="l">
              <a:defRPr sz="2520" b="0">
                <a:solidFill>
                  <a:srgbClr val="000000"/>
                </a:solidFill>
                <a:latin typeface="Arial"/>
                <a:ea typeface="Arial"/>
                <a:cs typeface="Arial"/>
              </a:defRPr>
            </a:pPr>
            <a:r>
              <a:rPr sz="2520" b="0">
                <a:solidFill>
                  <a:srgbClr val="000000"/>
                </a:solidFill>
                <a:latin typeface="Arial"/>
                <a:ea typeface="Arial"/>
                <a:cs typeface="Arial"/>
              </a:rPr>
              <a:t>Қорытынды және келесі қадам</a:t>
            </a:r>
          </a:p>
        </p:txBody>
      </p:sp>
      <p:sp>
        <p:nvSpPr>
          <p:cNvPr id="3" name="Google Shape;15;p6">
            <a:extLst xmlns:a="http://schemas.openxmlformats.org/drawingml/2006/main">
              <a:ext uri="{FF2B5EF4-FFF2-40B4-BE49-F238E27FC236}">
                <a16:creationId xmlns:a16="http://schemas.microsoft.com/office/drawing/2014/main" id="{E1F87B83-306A-496B-904B-52D0E1A5100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40" tIns="91440" rIns="91440" bIns="91440" anchor="t">
            <a:noAutofit/>
          </a:bodyPr>
          <a:lstStyle xmlns:a="http://schemas.openxmlformats.org/drawingml/2006/main">
            <a:defPPr algn="l">
              <a:defRPr sz="1800" b="0">
                <a:solidFill>
                  <a:srgbClr val="595959"/>
                </a:solidFill>
                <a:latin typeface="Arial"/>
                <a:ea typeface="Arial"/>
                <a:cs typeface="Arial"/>
              </a:defRPr>
            </a:defPPr>
            <a:lvl1pPr marL="457200" indent="-342900" algn="l">
              <a:lnSpc>
                <a:spcPct val="115000"/>
              </a:lnSpc>
              <a:spcBef>
                <a:spcPts val="0"/>
              </a:spcBef>
              <a:spcAft>
                <a:spcPts val="0"/>
              </a:spcAft>
              <a:buSzPts val="1800"/>
              <a:buChar char="●"/>
              <a:defRPr sz="1800" b="0">
                <a:solidFill>
                  <a:srgbClr val="595959"/>
                </a:solidFill>
                <a:latin typeface="Arial"/>
                <a:ea typeface="Arial"/>
                <a:cs typeface="Arial"/>
              </a:defRPr>
            </a:lvl1pPr>
            <a:lvl2pPr marL="914400" indent="-317500" algn="l">
              <a:lnSpc>
                <a:spcPct val="115000"/>
              </a:lnSpc>
              <a:spcBef>
                <a:spcPts val="0"/>
              </a:spcBef>
              <a:spcAft>
                <a:spcPts val="0"/>
              </a:spcAft>
              <a:buSzPts val="1400"/>
              <a:buChar char="○"/>
              <a:defRPr sz="1800" b="0">
                <a:solidFill>
                  <a:srgbClr val="595959"/>
                </a:solidFill>
                <a:latin typeface="Arial"/>
                <a:ea typeface="Arial"/>
                <a:cs typeface="Arial"/>
              </a:defRPr>
            </a:lvl2pPr>
            <a:lvl3pPr marL="1371600" indent="-317500" algn="l">
              <a:lnSpc>
                <a:spcPct val="115000"/>
              </a:lnSpc>
              <a:spcBef>
                <a:spcPts val="0"/>
              </a:spcBef>
              <a:spcAft>
                <a:spcPts val="0"/>
              </a:spcAft>
              <a:buSzPts val="1400"/>
              <a:buChar char="■"/>
              <a:defRPr sz="1800" b="0">
                <a:solidFill>
                  <a:srgbClr val="595959"/>
                </a:solidFill>
                <a:latin typeface="Arial"/>
                <a:ea typeface="Arial"/>
                <a:cs typeface="Arial"/>
              </a:defRPr>
            </a:lvl3pPr>
            <a:lvl4pPr marL="1828800" indent="-317500" algn="l">
              <a:lnSpc>
                <a:spcPct val="115000"/>
              </a:lnSpc>
              <a:spcBef>
                <a:spcPts val="0"/>
              </a:spcBef>
              <a:spcAft>
                <a:spcPts val="0"/>
              </a:spcAft>
              <a:buSzPts val="1400"/>
              <a:buChar char="●"/>
              <a:defRPr sz="1800" b="0">
                <a:solidFill>
                  <a:srgbClr val="595959"/>
                </a:solidFill>
                <a:latin typeface="Arial"/>
                <a:ea typeface="Arial"/>
                <a:cs typeface="Arial"/>
              </a:defRPr>
            </a:lvl4pPr>
            <a:lvl5pPr marL="2286000" indent="-317500" algn="l">
              <a:lnSpc>
                <a:spcPct val="115000"/>
              </a:lnSpc>
              <a:spcBef>
                <a:spcPts val="0"/>
              </a:spcBef>
              <a:spcAft>
                <a:spcPts val="0"/>
              </a:spcAft>
              <a:buSzPts val="1400"/>
              <a:buChar char="○"/>
              <a:defRPr sz="1800" b="0">
                <a:solidFill>
                  <a:srgbClr val="595959"/>
                </a:solidFill>
                <a:latin typeface="Arial"/>
                <a:ea typeface="Arial"/>
                <a:cs typeface="Arial"/>
              </a:defRPr>
            </a:lvl5pPr>
            <a:lvl6pPr marL="2743200" indent="-317500" algn="l">
              <a:lnSpc>
                <a:spcPct val="115000"/>
              </a:lnSpc>
              <a:spcBef>
                <a:spcPts val="0"/>
              </a:spcBef>
              <a:spcAft>
                <a:spcPts val="0"/>
              </a:spcAft>
              <a:buSzPts val="1400"/>
              <a:buChar char="■"/>
              <a:defRPr sz="1800" b="0">
                <a:solidFill>
                  <a:srgbClr val="595959"/>
                </a:solidFill>
                <a:latin typeface="Arial"/>
                <a:ea typeface="Arial"/>
                <a:cs typeface="Arial"/>
              </a:defRPr>
            </a:lvl6pPr>
            <a:lvl7pPr marL="3200400" indent="-317500" algn="l">
              <a:lnSpc>
                <a:spcPct val="115000"/>
              </a:lnSpc>
              <a:spcBef>
                <a:spcPts val="0"/>
              </a:spcBef>
              <a:spcAft>
                <a:spcPts val="0"/>
              </a:spcAft>
              <a:buSzPts val="1400"/>
              <a:buChar char="●"/>
              <a:defRPr sz="1800" b="0">
                <a:solidFill>
                  <a:srgbClr val="595959"/>
                </a:solidFill>
                <a:latin typeface="Arial"/>
                <a:ea typeface="Arial"/>
                <a:cs typeface="Arial"/>
              </a:defRPr>
            </a:lvl7pPr>
            <a:lvl8pPr marL="3657600" indent="-317500" algn="l">
              <a:lnSpc>
                <a:spcPct val="115000"/>
              </a:lnSpc>
              <a:spcBef>
                <a:spcPts val="0"/>
              </a:spcBef>
              <a:spcAft>
                <a:spcPts val="0"/>
              </a:spcAft>
              <a:buSzPts val="1400"/>
              <a:buChar char="○"/>
              <a:defRPr sz="1800" b="0">
                <a:solidFill>
                  <a:srgbClr val="595959"/>
                </a:solidFill>
                <a:latin typeface="Arial"/>
                <a:ea typeface="Arial"/>
                <a:cs typeface="Arial"/>
              </a:defRPr>
            </a:lvl8pPr>
            <a:lvl9pPr marL="4114800" indent="-317500" algn="l">
              <a:lnSpc>
                <a:spcPct val="115000"/>
              </a:lnSpc>
              <a:spcBef>
                <a:spcPts val="0"/>
              </a:spcBef>
              <a:spcAft>
                <a:spcPts val="0"/>
              </a:spcAft>
              <a:buSzPts val="1400"/>
              <a:buChar char="■"/>
              <a:defRPr sz="1800" b="0">
                <a:solidFill>
                  <a:srgbClr val="595959"/>
                </a:solidFill>
                <a:latin typeface="Arial"/>
                <a:ea typeface="Arial"/>
                <a:cs typeface="Arial"/>
              </a:defRPr>
            </a:lvl9pPr>
          </a:lstStyle>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Жұмыс істейтін жергілікті MVP қызметкерді, басшыны және HR-ды бір үдеріске біріктіреді. Демонстрацияда ойдан құрастырылған деректер қолданылады.</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Келесі қадам: қорғалған орта, интеграция шарттарын келісу және шектеулі пилот.</a:t>
            </a:r>
          </a:p>
          <a:p xmlns:a="http://schemas.openxmlformats.org/drawingml/2006/main">
            <a:pPr marL="0" indent="0" algn="l">
              <a:spcBef>
                <a:spcPts val="0"/>
              </a:spcBef>
              <a:spcAft>
                <a:spcPts val="1200"/>
              </a:spcAft>
              <a:buNone/>
              <a:defRPr sz="1800" b="0">
                <a:solidFill>
                  <a:srgbClr val="595959"/>
                </a:solidFill>
                <a:latin typeface="Arial"/>
                <a:ea typeface="Arial"/>
                <a:cs typeface="Arial"/>
              </a:defRPr>
            </a:pPr>
            <a:r>
              <a:rPr sz="1800" b="0">
                <a:solidFill>
                  <a:srgbClr val="595959"/>
                </a:solidFill>
                <a:latin typeface="Arial"/>
                <a:ea typeface="Arial"/>
                <a:cs typeface="Arial"/>
              </a:rPr>
              <a:t>Пилотта келісу уақытын, нақтылаусыз қабылданған өтінімдер үлесін және HR-ға типтік сұрақтар санын өлшейміз.</a:t>
            </a:r>
          </a:p>
          <a:p xmlns:a="http://schemas.openxmlformats.org/drawingml/2006/main">
            <a:pPr marL="0" indent="0" algn="l">
              <a:spcBef>
                <a:spcPts val="0"/>
              </a:spcBef>
              <a:spcAft>
                <a:spcPts val="0"/>
              </a:spcAft>
              <a:buNone/>
              <a:defRPr sz="1800" b="0">
                <a:solidFill>
                  <a:srgbClr val="595959"/>
                </a:solidFill>
                <a:latin typeface="Arial"/>
                <a:ea typeface="Arial"/>
                <a:cs typeface="Arial"/>
              </a:defRPr>
            </a:pPr>
            <a:r>
              <a:rPr sz="1800" b="0">
                <a:solidFill>
                  <a:srgbClr val="595959"/>
                </a:solidFill>
                <a:latin typeface="Arial"/>
                <a:ea typeface="Arial"/>
                <a:cs typeface="Arial"/>
              </a:rPr>
              <a:t>Тікелей көрсету: қызметкердің өтінімі, басшының шешімі, хабарлама мен сақтау; одан кейін Academy және AI Jana.</a:t>
            </a:r>
          </a:p>
        </p:txBody>
      </p:sp>
    </p:spTree>
    <p:extLst>
      <p:ext uri="{BB962C8B-B14F-4D97-AF65-F5344CB8AC3E}">
        <p14:creationId xmlns:p14="http://schemas.microsoft.com/office/powerpoint/2010/main" val="818845950"/>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2026-10-18T06:30:34.0690000Z</dcterms:created>
  <dcterms:modified xsi:type="dcterms:W3CDTF">2026-10-18T06:30:34.0690000Z</dcterms:modified>
</coreProperties>
</file>